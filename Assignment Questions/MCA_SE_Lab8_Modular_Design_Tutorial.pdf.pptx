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Software Engineering | Tutorial &amp; Lab 8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Modular Design of a Software System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Understand modules, cohesion, coupling and interfaces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Apply every step to YOUR OWN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Today’s 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Identify the main functions of a software project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Divide those functions into suitable modules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Explain high cohesion and low coupling in easy words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Draw a module diagram and describe module interfaces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What is a module?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A module is a small part of a large software system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Each module should have one clear main job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Example: Login handles signing in; Reports creates reports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Modules work together through defined interfaces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Why divide a project into modules?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Makes a big project easier to understand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Different team members can work on different parts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Simplifies testing, maintenance and future changes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One error is easier to locate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Example: Library Management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Authentication — sign in and permissions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Book Catalogue — add, search and update books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Member Management — member details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Loan Management — issue and return books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Fine Management — calculate overdue fines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Reporting — create summaries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Step 1: List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Think about everything your own software must do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Example: Student Portal — login, view courses, enroll, fees, results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Write each responsibility as a short action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Use your project SRS / requirements as the starting 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Step 2: Group into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Put related actions together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Example: add book + edit book + search book → Book Catalogue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Keep login separate from book issue/return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Give each module a short and meaningful name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Step 3: High cohesion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Cohesion means: how closely tasks inside one module belong together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HIGH cohesion: Loan module handles issue, return and due dates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LOW cohesion: Loan module also handles login and sales reports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Rule: one module, one main purpose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Step 4: Low coupling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Coupling means: how much one module depends on other modules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LOW coupling: Loan asks Catalogue for book availability through an interface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HIGH coupling: Loan directly changes private data in many modules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Rule: keep connections necessary, limited and clear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Step 5: What is an interface?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An interface is a defined way for two modules to communicate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Example: checkAvailability(bookId) → available / unavailable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Example: createLoan(memberId, bookId) → loanId or error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Write input, output and the modules involved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Simple module diagram (example)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88720" y="1920240"/>
            <a:ext cx="2651760" cy="868680"/>
          </a:xfrm>
          <a:prstGeom prst="roundRect">
            <a:avLst/>
          </a:prstGeom>
          <a:solidFill>
            <a:srgbClr val="12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Authentication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920240"/>
            <a:ext cx="2651760" cy="868680"/>
          </a:xfrm>
          <a:prstGeom prst="roundRect">
            <a:avLst/>
          </a:prstGeom>
          <a:solidFill>
            <a:srgbClr val="12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Loan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20240"/>
            <a:ext cx="2651760" cy="868680"/>
          </a:xfrm>
          <a:prstGeom prst="roundRect">
            <a:avLst/>
          </a:prstGeom>
          <a:solidFill>
            <a:srgbClr val="12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Book Catalogue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931920"/>
            <a:ext cx="2651760" cy="868680"/>
          </a:xfrm>
          <a:prstGeom prst="roundRect">
            <a:avLst/>
          </a:prstGeom>
          <a:solidFill>
            <a:srgbClr val="12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Fine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931920"/>
            <a:ext cx="2651760" cy="868680"/>
          </a:xfrm>
          <a:prstGeom prst="roundRect">
            <a:avLst/>
          </a:prstGeom>
          <a:solidFill>
            <a:srgbClr val="12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Reporting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928CA0-EB85-9826-286E-8D31F9ECF930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840480" y="2350008"/>
            <a:ext cx="731520" cy="45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854E10-21DA-AAA0-9222-78C9AA04C416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7223760" y="2354580"/>
            <a:ext cx="1005840" cy="1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569794-AA32-C22A-5588-4A041A7125E8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7223760" y="4366260"/>
            <a:ext cx="1005840" cy="1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AD63688-9D1F-8964-20E9-BF26A55DD5CE}"/>
              </a:ext>
            </a:extLst>
          </p:cNvPr>
          <p:cNvCxnSpPr>
            <a:cxnSpLocks/>
          </p:cNvCxnSpPr>
          <p:nvPr/>
        </p:nvCxnSpPr>
        <p:spPr>
          <a:xfrm>
            <a:off x="5765409" y="2788920"/>
            <a:ext cx="0" cy="1143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Apply modular design to your own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Write project name and 5–8 important requirements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Make a table: module name + responsibilities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Draw labeled boxes and arrows for module connections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Describe 3 interfaces with inputs and outputs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Explain 2 cohesion decisions and 2 coupling decisions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Tutorial numericals: how to 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Count module connections carefully; avoid double counting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For the exercises, use the formulas GIVEN in the question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Write formula → substitute values → final answer</a:t>
            </a:r>
          </a:p>
          <a:p>
            <a:pPr>
              <a:spcAft>
                <a:spcPts val="1900"/>
              </a:spcAft>
              <a:defRPr sz="2300">
                <a:solidFill>
                  <a:srgbClr val="122D4D"/>
                </a:solidFill>
                <a:latin typeface="Aptos"/>
              </a:defRPr>
            </a:pPr>
            <a:r>
              <a:t>•  Explain what the numerical result means for 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Submission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Module list matches your own project requirements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Each module has one main responsibility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Diagram has clear names and arrows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Interfaces specify inputs and outputs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You can explain your cohesion/coupling decisions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Finish with 2–3 lines describing your result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22D4D"/>
                </a:solidFill>
                <a:latin typeface="Aptos Display"/>
              </a:defRPr>
            </a:pPr>
            <a:r>
              <a:t>Lab time plan: 1 hour 45 minutes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43000"/>
            <a:ext cx="10927080" cy="50292"/>
          </a:xfrm>
          <a:prstGeom prst="rect">
            <a:avLst/>
          </a:prstGeom>
          <a:solidFill>
            <a:srgbClr val="008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0–10 min: recap and instructions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10–25 min: instructor’s library example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25–65 min: student design for own project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65–90 min: complete interfaces and justification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90–100 min: self/peer review</a:t>
            </a:r>
          </a:p>
          <a:p>
            <a:pPr>
              <a:spcAft>
                <a:spcPts val="1900"/>
              </a:spcAft>
              <a:defRPr sz="2100">
                <a:solidFill>
                  <a:srgbClr val="122D4D"/>
                </a:solidFill>
                <a:latin typeface="Aptos"/>
              </a:defRPr>
            </a:pPr>
            <a:r>
              <a:t>•  100–105 min: write result and submit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659</Words>
  <Application>Microsoft Office PowerPoint</Application>
  <PresentationFormat>Widescreen</PresentationFormat>
  <Paragraphs>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Nitin Singh Rajput</cp:lastModifiedBy>
  <cp:revision>3</cp:revision>
  <dcterms:created xsi:type="dcterms:W3CDTF">2013-01-27T09:14:16Z</dcterms:created>
  <dcterms:modified xsi:type="dcterms:W3CDTF">2026-10-14T07:11:58Z</dcterms:modified>
  <cp:category/>
</cp:coreProperties>
</file>