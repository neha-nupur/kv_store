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Functional Test Case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691640"/>
            <a:ext cx="10817352" cy="3273552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2103120"/>
            <a:ext cx="9966960" cy="9144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500" b="1">
                <a:solidFill>
                  <a:srgbClr val="17365D"/>
                </a:solidFill>
                <a:latin typeface="Aptos"/>
              </a:defRPr>
            </a:pPr>
            <a:r>
              <a:t>How do we check if a feature works?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63824"/>
            <a:ext cx="9784080" cy="11430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600" b="0">
                <a:solidFill>
                  <a:srgbClr val="293442"/>
                </a:solidFill>
                <a:latin typeface="Aptos"/>
              </a:defRPr>
            </a:pPr>
            <a:r>
              <a:t>Write the input, steps and expected result before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What will you learn today?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502152" cy="324612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8580" cy="32461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3090672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1. Choose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3090672" cy="2331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93442"/>
                </a:solidFill>
                <a:latin typeface="Aptos"/>
              </a:defRPr>
            </a:pPr>
            <a:r>
              <a:t>Pick a function that the system must perform.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417320"/>
            <a:ext cx="3502152" cy="324612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52544" y="1417320"/>
            <a:ext cx="68580" cy="32461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581912"/>
            <a:ext cx="3090672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2. Write test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148840"/>
            <a:ext cx="3090672" cy="2331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93442"/>
                </a:solidFill>
                <a:latin typeface="Aptos"/>
              </a:defRPr>
            </a:pPr>
            <a:r>
              <a:t>Give each test an ID, input, steps and expected result.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417320"/>
            <a:ext cx="3502152" cy="324612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3568" y="1417320"/>
            <a:ext cx="68580" cy="32461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6" y="1581912"/>
            <a:ext cx="3090672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3. Check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148840"/>
            <a:ext cx="3090672" cy="2331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93442"/>
                </a:solidFill>
                <a:latin typeface="Aptos"/>
              </a:defRPr>
            </a:pPr>
            <a:r>
              <a:t>Include valid and invalid tests and link each to its requirement.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241280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7F86"/>
                </a:solidFill>
                <a:latin typeface="Aptos"/>
              </a:defRPr>
            </a:pPr>
            <a:r>
              <a:t>Lab output: an editable test-case register + two detailed test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What is functional testing?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515600" cy="9144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17365D"/>
                </a:solidFill>
                <a:latin typeface="Aptos"/>
              </a:defRPr>
            </a:pPr>
            <a:r>
              <a:t>It checks WHAT the software does, not how its code is written.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88920"/>
            <a:ext cx="5074920" cy="219456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788920"/>
            <a:ext cx="68580" cy="2194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953512"/>
            <a:ext cx="466344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Example: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520439"/>
            <a:ext cx="4663440" cy="12801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Does a correct username and password open the dashboard?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788920"/>
            <a:ext cx="5074920" cy="219456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63056" y="2788920"/>
            <a:ext cx="68580" cy="2194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2953512"/>
            <a:ext cx="466344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Example: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520439"/>
            <a:ext cx="4663440" cy="12801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Does searching for a book show the correct result?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What is a test case?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44752"/>
            <a:ext cx="10012680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400" b="0">
                <a:solidFill>
                  <a:srgbClr val="293442"/>
                </a:solidFill>
                <a:latin typeface="Aptos"/>
              </a:defRPr>
            </a:pPr>
            <a:r>
              <a:t>A test case is a small set of instructions for checking one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304288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293442"/>
                </a:solidFill>
                <a:latin typeface="Aptos"/>
              </a:defRPr>
            </a:pPr>
            <a:r>
              <a:t>Test case ID: TC-01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944368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293442"/>
                </a:solidFill>
                <a:latin typeface="Aptos"/>
              </a:defRPr>
            </a:pPr>
            <a:r>
              <a:t>Requirement ID: R-01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57600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584448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293442"/>
                </a:solidFill>
                <a:latin typeface="Aptos"/>
              </a:defRPr>
            </a:pPr>
            <a:r>
              <a:t>Input and preconditions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97679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224527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293442"/>
                </a:solidFill>
                <a:latin typeface="Aptos"/>
              </a:defRPr>
            </a:pPr>
            <a:r>
              <a:t>Steps to perform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37760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4864608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293442"/>
                </a:solidFill>
                <a:latin typeface="Aptos"/>
              </a:defRPr>
            </a:pPr>
            <a:r>
              <a:t>Expected result and test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Start from the SRS (requirements)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24128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606E7B"/>
                </a:solidFill>
                <a:latin typeface="Aptos"/>
              </a:defRPr>
            </a:pPr>
            <a:r>
              <a:t>Use the actual project requirements. These are sample Library Management System features.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2075688"/>
          <a:ext cx="1051559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1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3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Req. ID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 functional requirement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Possible test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R-01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User can log in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Correct and wrong password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R-02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User can search a book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Book found / not found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R-03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User can borrow a book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Allowed / borrowing limit reached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R-04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User can return a book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Return on time / late return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Positive and negative test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" y="1554480"/>
            <a:ext cx="4937760" cy="338328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1832" y="1554480"/>
            <a:ext cx="68580" cy="3383280"/>
          </a:xfrm>
          <a:prstGeom prst="rect">
            <a:avLst/>
          </a:prstGeom>
          <a:solidFill>
            <a:srgbClr val="23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719072"/>
            <a:ext cx="452628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Positive test (valid)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4526280" cy="2468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Try a correct action.</a:t>
            </a:r>
          </a:p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Example: correct login data.</a:t>
            </a:r>
          </a:p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Expected: dashboard opens.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4937760" cy="338328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68580" cy="3383280"/>
          </a:xfrm>
          <a:prstGeom prst="rect">
            <a:avLst/>
          </a:prstGeom>
          <a:solidFill>
            <a:srgbClr val="B7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719072"/>
            <a:ext cx="452628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Negative test (invalid)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286000"/>
            <a:ext cx="4526280" cy="2468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Try an incorrect action.</a:t>
            </a:r>
          </a:p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Example: wrong password.</a:t>
            </a:r>
          </a:p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Expected: error, no login.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321808"/>
            <a:ext cx="100584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7F86"/>
                </a:solidFill>
                <a:latin typeface="Aptos"/>
              </a:defRPr>
            </a:pPr>
            <a:r>
              <a:t>A good test set includes BOTH kinds.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Worked example: valid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87552" y="1371600"/>
          <a:ext cx="10195559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3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2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Test ID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TC-01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R-01: login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Precondition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User is registered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Correct username and password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Steps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Open login → enter data → click Login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Dashboard opens; user is logged in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Positive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Worked example: wrong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87552" y="1371600"/>
          <a:ext cx="10195559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3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2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Test ID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TC-02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R-01: login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Precondition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Username exists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Correct username, wrong password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Steps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Open login → enter data → click Login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Access denied; clear error message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Negative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How to write a good 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417320"/>
            <a:ext cx="4846320" cy="28346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1417320"/>
            <a:ext cx="68580" cy="2834640"/>
          </a:xfrm>
          <a:prstGeom prst="rect">
            <a:avLst/>
          </a:prstGeom>
          <a:solidFill>
            <a:srgbClr val="B7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1581912"/>
            <a:ext cx="443484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Too vague 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148840"/>
            <a:ext cx="4434840" cy="1920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“System works correctly.”</a:t>
            </a:r>
          </a:p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We cannot check exactly what happened.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417320"/>
            <a:ext cx="4846320" cy="28346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54496" y="1417320"/>
            <a:ext cx="68580" cy="2834640"/>
          </a:xfrm>
          <a:prstGeom prst="rect">
            <a:avLst/>
          </a:prstGeom>
          <a:solidFill>
            <a:srgbClr val="23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581912"/>
            <a:ext cx="443484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Clear and testable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148840"/>
            <a:ext cx="4434840" cy="1920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“Access is denied and an error message appears.”</a:t>
            </a:r>
          </a:p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2000" b="0">
                <a:solidFill>
                  <a:srgbClr val="293442"/>
                </a:solidFill>
                <a:latin typeface="Aptos"/>
              </a:defRPr>
            </a:pPr>
            <a:r>
              <a:t>We can check this.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Practice: borrowing limit (boundary values)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78408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06E7B"/>
                </a:solidFill>
                <a:latin typeface="Aptos"/>
              </a:defRPr>
            </a:pPr>
            <a:r>
              <a:t>Sample classroom assumption: a member can hold at most 5 books. Confirm rules with your SRS.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1828800"/>
          <a:ext cx="101041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books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Issue 1 more?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Below limit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New total will be 5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New total would be 6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Already above limit / invalid state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5840" y="5468112"/>
            <a:ext cx="10058400" cy="3931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7F86"/>
                </a:solidFill>
                <a:latin typeface="Aptos"/>
              </a:defRPr>
            </a:pPr>
            <a:r>
              <a:t>Boundary inputs to try: 4, 5 and 6 books.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Practice: overdue fine (calculation)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78408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06E7B"/>
                </a:solidFill>
                <a:latin typeface="Aptos"/>
              </a:defRPr>
            </a:pPr>
            <a:r>
              <a:t>Sample classroom assumption: due after 14 days; fine = Rs. 2 per overdue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600200"/>
            <a:ext cx="9966960" cy="58521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7365D"/>
                </a:solidFill>
                <a:latin typeface="Aptos"/>
              </a:defRPr>
            </a:pPr>
            <a:r>
              <a:t>Overdue days = max(0, days kept − 14)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13432"/>
            <a:ext cx="9966960" cy="58521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7365D"/>
                </a:solidFill>
                <a:latin typeface="Aptos"/>
              </a:defRPr>
            </a:pPr>
            <a:r>
              <a:t>Fine (Rs.) = 2 × overdue days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43000" y="3218688"/>
          <a:ext cx="987552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939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Days kept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Overdue days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fine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Rs. 0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Rs. 0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39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Rs. 2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9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Rs. 8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Connect every test to a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362456"/>
            <a:ext cx="10789920" cy="7315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This is called REQUIREMENT TRACEABILITY.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2441448"/>
          <a:ext cx="10287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case IDs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Coverage</a:t>
                      </a:r>
                    </a:p>
                  </a:txBody>
                  <a:tcPr marL="100584" marT="91440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R-01: Login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TC-01, TC-02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Positive + negative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R-02: Search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TC-03, TC-04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Positive + negative</a:t>
                      </a:r>
                    </a:p>
                  </a:txBody>
                  <a:tcPr marL="100584" marR="73152" marT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R-03: Borrow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TC-05, TC-06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93442"/>
                          </a:solidFill>
                          <a:latin typeface="Aptos"/>
                        </a:defRPr>
                      </a:pPr>
                      <a:r>
                        <a:t>Positive + negative</a:t>
                      </a:r>
                    </a:p>
                  </a:txBody>
                  <a:tcPr marL="100584" marR="73152" marT="6400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0120" y="5605272"/>
            <a:ext cx="10058400" cy="43891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7F86"/>
                </a:solidFill>
                <a:latin typeface="Aptos"/>
              </a:defRPr>
            </a:pPr>
            <a:r>
              <a:t>If a requirement has no test, add a test for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Mini classroom exercise (5 minutes)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18488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07592" y="1545336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400" b="0">
                <a:solidFill>
                  <a:srgbClr val="293442"/>
                </a:solidFill>
                <a:latin typeface="Aptos"/>
              </a:defRPr>
            </a:pPr>
            <a:r>
              <a:t>Choose one requirement from your project SRS.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532888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07592" y="2459736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400" b="0">
                <a:solidFill>
                  <a:srgbClr val="293442"/>
                </a:solidFill>
                <a:latin typeface="Aptos"/>
              </a:defRPr>
            </a:pPr>
            <a:r>
              <a:t>Write one valid-input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447288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07592" y="3374136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400" b="0">
                <a:solidFill>
                  <a:srgbClr val="293442"/>
                </a:solidFill>
                <a:latin typeface="Aptos"/>
              </a:defRPr>
            </a:pPr>
            <a:r>
              <a:t>Write one invalid-input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361688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07592" y="4288536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400" b="0">
                <a:solidFill>
                  <a:srgbClr val="293442"/>
                </a:solidFill>
                <a:latin typeface="Aptos"/>
              </a:defRPr>
            </a:pPr>
            <a:r>
              <a:t>Give both tests clear, observable expected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What should students submit?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481328"/>
            <a:ext cx="5065776" cy="3328416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" y="1481328"/>
            <a:ext cx="68580" cy="3328416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1645920"/>
            <a:ext cx="4654296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Part A: Test Case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212848"/>
            <a:ext cx="4654296" cy="241401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3442"/>
                </a:solidFill>
                <a:latin typeface="Aptos"/>
              </a:defRPr>
            </a:pPr>
            <a:r>
              <a:t>• Student and project details</a:t>
            </a:r>
          </a:p>
          <a:p>
            <a:pPr>
              <a:spcAft>
                <a:spcPts val="900"/>
              </a:spcAft>
              <a:defRPr sz="1900" b="0">
                <a:solidFill>
                  <a:srgbClr val="293442"/>
                </a:solidFill>
                <a:latin typeface="Aptos"/>
              </a:defRPr>
            </a:pPr>
            <a:r>
              <a:t>• Requirement IDs</a:t>
            </a:r>
          </a:p>
          <a:p>
            <a:pPr>
              <a:spcAft>
                <a:spcPts val="900"/>
              </a:spcAft>
              <a:defRPr sz="1900" b="0">
                <a:solidFill>
                  <a:srgbClr val="293442"/>
                </a:solidFill>
                <a:latin typeface="Aptos"/>
              </a:defRPr>
            </a:pPr>
            <a:r>
              <a:t>• At least 6 test cases</a:t>
            </a:r>
          </a:p>
          <a:p>
            <a:pPr>
              <a:spcAft>
                <a:spcPts val="900"/>
              </a:spcAft>
              <a:defRPr sz="1900" b="0">
                <a:solidFill>
                  <a:srgbClr val="293442"/>
                </a:solidFill>
                <a:latin typeface="Aptos"/>
              </a:defRPr>
            </a:pPr>
            <a:r>
              <a:t>• Both positive and negative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481328"/>
            <a:ext cx="5065776" cy="3328416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08776" y="1481328"/>
            <a:ext cx="68580" cy="3328416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645920"/>
            <a:ext cx="4654296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7365D"/>
                </a:solidFill>
                <a:latin typeface="Aptos"/>
              </a:defRPr>
            </a:pPr>
            <a:r>
              <a:t>Part B: Detailed Test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212848"/>
            <a:ext cx="4654296" cy="241401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3442"/>
                </a:solidFill>
                <a:latin typeface="Aptos"/>
              </a:defRPr>
            </a:pPr>
            <a:r>
              <a:t>• Two detailed test cases</a:t>
            </a:r>
          </a:p>
          <a:p>
            <a:pPr>
              <a:spcAft>
                <a:spcPts val="900"/>
              </a:spcAft>
              <a:defRPr sz="1900" b="0">
                <a:solidFill>
                  <a:srgbClr val="293442"/>
                </a:solidFill>
                <a:latin typeface="Aptos"/>
              </a:defRPr>
            </a:pPr>
            <a:r>
              <a:t>• Preconditions and steps</a:t>
            </a:r>
          </a:p>
          <a:p>
            <a:pPr>
              <a:spcAft>
                <a:spcPts val="900"/>
              </a:spcAft>
              <a:defRPr sz="1900" b="0">
                <a:solidFill>
                  <a:srgbClr val="293442"/>
                </a:solidFill>
                <a:latin typeface="Aptos"/>
              </a:defRPr>
            </a:pPr>
            <a:r>
              <a:t>• Specific expected results</a:t>
            </a:r>
          </a:p>
          <a:p>
            <a:pPr>
              <a:spcAft>
                <a:spcPts val="900"/>
              </a:spcAft>
              <a:defRPr sz="1900" b="0">
                <a:solidFill>
                  <a:srgbClr val="293442"/>
                </a:solidFill>
                <a:latin typeface="Aptos"/>
              </a:defRPr>
            </a:pPr>
            <a:r>
              <a:t>• Traceability checklist and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Common mistakes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" y="1517904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7864" y="1444751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293442"/>
                </a:solidFill>
                <a:latin typeface="Aptos"/>
              </a:defRPr>
            </a:pPr>
            <a:r>
              <a:t>Writing “works correctly” as the expected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2258568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97864" y="2185415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293442"/>
                </a:solidFill>
                <a:latin typeface="Aptos"/>
              </a:defRPr>
            </a:pPr>
            <a:r>
              <a:t>Testing only valid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2999232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97864" y="2926080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293442"/>
                </a:solidFill>
                <a:latin typeface="Aptos"/>
              </a:defRPr>
            </a:pPr>
            <a:r>
              <a:t>Forgetting to link the test to a requirement.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3739896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7864" y="3666744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293442"/>
                </a:solidFill>
                <a:latin typeface="Aptos"/>
              </a:defRPr>
            </a:pPr>
            <a:r>
              <a:t>Using a rule that is not in your SRS.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4480560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7864" y="4407408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293442"/>
                </a:solidFill>
                <a:latin typeface="Aptos"/>
              </a:defRPr>
            </a:pPr>
            <a:r>
              <a:t>Marking a test “Pass” without actually running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Review checklist before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01384"/>
            <a:ext cx="11000232" cy="16459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MCA SOFTWARE ENGINEERING  |  LAB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47104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606E7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" y="1508760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7864" y="1435607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293442"/>
                </a:solidFill>
                <a:latin typeface="Aptos"/>
              </a:defRPr>
            </a:pPr>
            <a:r>
              <a:t>Does every test have a unique ID?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2267712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97864" y="2194560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293442"/>
                </a:solidFill>
                <a:latin typeface="Aptos"/>
              </a:defRPr>
            </a:pPr>
            <a:r>
              <a:t>Is each test linked to a requirement?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3026663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97864" y="2953511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293442"/>
                </a:solidFill>
                <a:latin typeface="Aptos"/>
              </a:defRPr>
            </a:pPr>
            <a:r>
              <a:t>Are valid and invalid tests included?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3785615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7864" y="3712463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293442"/>
                </a:solidFill>
                <a:latin typeface="Aptos"/>
              </a:defRPr>
            </a:pPr>
            <a:r>
              <a:t>Are steps and expected results clear?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4544568"/>
            <a:ext cx="118872" cy="118872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7864" y="4471416"/>
            <a:ext cx="10323576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293442"/>
                </a:solidFill>
                <a:latin typeface="Aptos"/>
              </a:defRPr>
            </a:pPr>
            <a:r>
              <a:t>Can someone else repeat the same test?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922</Words>
  <Application>Microsoft Office PowerPoint</Application>
  <PresentationFormat>Widescreen</PresentationFormat>
  <Paragraphs>208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Nitin Singh Rajput</cp:lastModifiedBy>
  <cp:revision>2</cp:revision>
  <dcterms:created xsi:type="dcterms:W3CDTF">2013-01-27T09:14:16Z</dcterms:created>
  <dcterms:modified xsi:type="dcterms:W3CDTF">2026-10-21T05:51:37Z</dcterms:modified>
  <cp:category/>
</cp:coreProperties>
</file>